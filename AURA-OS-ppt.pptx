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B565A9-993C-431B-979D-3189A375E68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5874E5-4821-49A5-9016-B01F9300FE31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5AD56C1-6231-434E-9690-192CC4E52D3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64DE8FC-D8B8-4FFA-9DD5-AE93A63C5E2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1E2747-A883-431D-8ACE-27D989A273DA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F4EBC55-1021-4032-A5A6-E8A18F4FE222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05B9DE8-FB25-4239-868F-BA222427067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2A683B-2D27-4B67-9649-935DF23906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C4BA01-4BA4-4A14-8201-BD5E9B769F36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A0BD3AC-7501-413D-A364-867FEC160CE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88A5D9A-92BC-4033-B940-6CF6B25588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CC0D9F7-3432-4AA2-BD54-23E81AE7880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B3F69D7-BAD5-48F2-B88A-6E359FF56C8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C17B7F-D62C-487C-9030-D4F895864A5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A0BAA47-7A70-4114-9617-A6901E4BDD57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199E681-D48B-4D55-A4E2-302C2F781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E7B6185-B519-4750-A303-D136C565D19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7EDE0DC-C57E-4719-B929-96664D6998D7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0186138-B287-4DEB-B0EA-F2D231A3C44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59A46CD-7A0C-44B2-8D3F-AFE77FE4BE3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7B4C3CB-68C9-453B-BF5A-247D9A5D800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D3E37F-50C2-4FCF-97CC-B4A80AA2C7C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0F4C4C6-CF81-495B-A44C-84AD3DEA11B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A47C1FC-9785-4D6C-B157-DC41EE939D85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0B605CA-C627-4DBD-B7E1-731A9B46508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D35C247-646D-4047-8FD1-EF6FA77F016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CE63898B-DCE8-4E01-91EA-2F141617F67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18A684E-E677-4782-8D57-C9C1981047F9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3AA36C47-9563-4730-AB8D-D69E3EAB9E4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DCDC844-FE07-4EEA-9600-6BE3EBFBDD2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B4447A23-0EEC-4E1F-8AE5-35538F9BA3A7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7887DE6C-397F-4210-BC42-B467FBE1090B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2F4BE1A1-1E5C-41BB-B91F-D6EB865CEDD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AEA3E38B-7C12-40CB-8A04-852A0A43EA9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06264EB6-DEE2-4A45-94DB-D0CC15510BAF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8743A51E-A27F-4A52-A34F-47AFD0499FCA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8510C1-2448-4775-A45F-EE04738A8FFE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5" name="Picture 4"/>
          <p:cNvPicPr/>
          <p:nvPr/>
        </p:nvPicPr>
        <p:blipFill>
          <a:blip r:embed="rId15"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3622BF6-C1EF-49E2-A6E9-8DC057FE5E34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600" b="0" strike="noStrike" spc="-1">
                <a:solidFill>
                  <a:srgbClr val="17375E"/>
                </a:solidFill>
                <a:latin typeface="Calibri"/>
              </a:rPr>
              <a:t>TITLE</a:t>
            </a:r>
            <a:endParaRPr lang="en-US" sz="36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pic>
        <p:nvPicPr>
          <p:cNvPr id="47" name="Picture 46"/>
          <p:cNvPicPr/>
          <p:nvPr/>
        </p:nvPicPr>
        <p:blipFill>
          <a:blip r:embed="rId15"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IN" sz="1200" b="0" strike="noStrike" spc="-1"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IN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IN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412AF1-E513-4153-8A8C-B9990C0B2C5B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87" name="Picture 86"/>
          <p:cNvPicPr/>
          <p:nvPr/>
        </p:nvPicPr>
        <p:blipFill>
          <a:blip r:embed="rId15"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9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0" y="2137680"/>
            <a:ext cx="12191760" cy="5644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2400" b="1" dirty="0">
                <a:solidFill>
                  <a:srgbClr val="0F172A"/>
                </a:solidFill>
                <a:latin typeface="Calibri"/>
              </a:rPr>
              <a:t>AURA-OS: Agentic Unified Replica Architecture Operating System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/>
            <a:r>
              <a:rPr sz="2400" i="1" dirty="0">
                <a:solidFill>
                  <a:srgbClr val="475569"/>
                </a:solidFill>
                <a:latin typeface="Calibri"/>
              </a:rPr>
              <a:t>A Goal-Oriented Web-Native OS with Sandboxed Multi-Agent Execution &amp; Real Telemetry</a:t>
            </a:r>
          </a:p>
        </p:txBody>
      </p:sp>
      <p:sp>
        <p:nvSpPr>
          <p:cNvPr id="127" name="CustomShape 2"/>
          <p:cNvSpPr/>
          <p:nvPr/>
        </p:nvSpPr>
        <p:spPr>
          <a:xfrm>
            <a:off x="0" y="3727279"/>
            <a:ext cx="3823560" cy="844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SUBMITTED BY:-
</a:t>
            </a:r>
            <a:r>
              <a:rPr sz="1200" b="0" dirty="0">
                <a:solidFill>
                  <a:srgbClr val="1E293B"/>
                </a:solidFill>
                <a:latin typeface="Times New Roman"/>
              </a:rPr>
              <a:t>Nitanshu Tak
SAP ID: 500121943
</a:t>
            </a:r>
            <a:r>
              <a:rPr sz="1200" b="0" dirty="0" err="1">
                <a:solidFill>
                  <a:srgbClr val="1E293B"/>
                </a:solidFill>
                <a:latin typeface="Times New Roman"/>
              </a:rPr>
              <a:t>B.Tech</a:t>
            </a:r>
            <a:r>
              <a:rPr sz="1200" b="0" dirty="0">
                <a:solidFill>
                  <a:srgbClr val="1E293B"/>
                </a:solidFill>
                <a:latin typeface="Times New Roman"/>
              </a:rPr>
              <a:t> CSE (CCVT) - Batch 2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993093" y="4937063"/>
            <a:ext cx="3832200" cy="6602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  <a:buNone/>
            </a:pPr>
            <a:r>
              <a:rPr sz="1300" b="1" dirty="0">
                <a:solidFill>
                  <a:srgbClr val="0F172A"/>
                </a:solidFill>
                <a:latin typeface="Times New Roman"/>
              </a:rPr>
              <a:t>MENTORED BY:-
</a:t>
            </a:r>
            <a:r>
              <a:rPr sz="1200" b="0" dirty="0">
                <a:solidFill>
                  <a:srgbClr val="1E293B"/>
                </a:solidFill>
                <a:latin typeface="Times New Roman"/>
              </a:rPr>
              <a:t>Dr. Nadeem </a:t>
            </a:r>
            <a:r>
              <a:rPr sz="1200" b="0" dirty="0" err="1">
                <a:solidFill>
                  <a:srgbClr val="1E293B"/>
                </a:solidFill>
                <a:latin typeface="Times New Roman"/>
              </a:rPr>
              <a:t>Khandey</a:t>
            </a:r>
            <a:r>
              <a:rPr sz="1200" b="0" dirty="0">
                <a:solidFill>
                  <a:srgbClr val="1E293B"/>
                </a:solidFill>
                <a:latin typeface="Times New Roman"/>
              </a:rPr>
              <a:t> Sir
School of Computer Science, UPES</a:t>
            </a:r>
            <a:endParaRPr lang="en-IN" sz="1400" b="0" strike="noStrike" spc="-1" dirty="0">
              <a:latin typeface="Arial"/>
            </a:endParaRPr>
          </a:p>
        </p:txBody>
      </p:sp>
      <p:sp>
        <p:nvSpPr>
          <p:cNvPr id="129" name="Title 1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35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800" b="1" dirty="0">
                <a:solidFill>
                  <a:srgbClr val="0E7490"/>
                </a:solidFill>
                <a:latin typeface="Calibri"/>
              </a:rPr>
              <a:t>Major Project Mid-Semester Presentation</a:t>
            </a:r>
            <a:endParaRPr lang="en-IN" sz="36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Abstract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3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Problem Statement: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Traditional operating systems impose heavy installation and hardware footprints, while existing browser-based OS demonstrations are superficial skins reliant on inert mock data and fake terminals unable to compile code or run genuine workloads.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Proposed Architecture: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AURA-OS delivers a high-performance hybrid web-native operating system pairing a zero-dependency Python Core kernel backend with a 60+ FPS hardware-accelerated desktop compositor rendered in standard Chromium/Edge environments.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Kernel-Level Execution: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Integrates real POSIX/Windows execution via an RFC 6455 WebSocket terminal streaming bridge with verified buffer flushing and HTTP RPC fallback, allowing genuine compiler execution (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gcc</a:t>
            </a:r>
            <a:r>
              <a:rPr sz="1700" dirty="0">
                <a:solidFill>
                  <a:srgbClr val="1E293B"/>
                </a:solidFill>
                <a:latin typeface="Calibri"/>
              </a:rPr>
              <a:t>, g++, python,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javac</a:t>
            </a:r>
            <a:r>
              <a:rPr sz="1700" dirty="0">
                <a:solidFill>
                  <a:srgbClr val="1E293B"/>
                </a:solidFill>
                <a:latin typeface="Calibri"/>
              </a:rPr>
              <a:t>) in an isolated sandbox (~/AURA_STORE/).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Dual-Mode Presentation Delivery: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Operates both as a bootable ISO image and via a native host launcher (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msedge</a:t>
            </a:r>
            <a:r>
              <a:rPr sz="1700" dirty="0">
                <a:solidFill>
                  <a:srgbClr val="1E293B"/>
                </a:solidFill>
                <a:latin typeface="Calibri"/>
              </a:rPr>
              <a:t> --app=http://localhost:8888) providing butter-smooth 60+ FPS mouse interaction and zero virtualization driver capture bottlenecks.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Mid-Semester Readiness: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Full desktop shell completed with 14 native apps, multi-tab proxy browser, multi-stage UEFI diagnostic bootloader (~2.8s), Task Manager with real-time telemetry, and complete ISO/SRS documentation.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Introduction &amp; Motivation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3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Background &amp; Industry Context: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Cloud-native workstations, educational computer labs, and DevOps engineers require instant, secure computing workspaces without configuring multi-gigabyte virtual machines or managing platform-specific dependencies.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The Virtualization Dilemma: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Hypervisors like VirtualBox suffer from severe mouse capture trap issues, driver resolution bottlenecks, and heavy memory footprints (&gt;4 GB RAM) for simple development tasks.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The AURA-OS Breakthrough: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A local microkernel architecture that pairs lightweight host OS primitives with a high-fidelity web shell. It boots in under 2.8 seconds and maintains an idle backend footprint under 120 MB RAM.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Core Engineering Pillars: 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* True PTY Shell Bridge: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Interactive VT100 console executing real host shell binaries over RFC 6455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WebSockets</a:t>
            </a:r>
            <a:r>
              <a:rPr sz="170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* Sandboxed Web Proxy Gateway: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Strips restrictive CORS/CSP headers to enable live multi-tab web research inside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iframe</a:t>
            </a:r>
            <a:r>
              <a:rPr sz="1700" dirty="0">
                <a:solidFill>
                  <a:srgbClr val="1E293B"/>
                </a:solidFill>
                <a:latin typeface="Calibri"/>
              </a:rPr>
              <a:t> containers.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* Fluent Desktop Compositor: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Windows 11 inspired 48px glass taskbar, z-index window management, sound visualizer, and indexed start menu.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Project Objectives &amp; Scope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3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Primary Objective: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Architect and implement an authentic, web-native desktop operating system delivering native 60+ FPS responsiveness, genuine process telemetry, and zero mock data.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Sub-Objectives &amp; Engineering Targets: 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1. Zero External Dependency Backend: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Implement an asynchronous Python 3.10+ kernel runtime utilizing exclusively standard library primitives (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http.server</a:t>
            </a:r>
            <a:r>
              <a:rPr sz="1700" dirty="0">
                <a:solidFill>
                  <a:srgbClr val="1E293B"/>
                </a:solidFill>
                <a:latin typeface="Calibri"/>
              </a:rPr>
              <a:t>, socket, threading, subprocess,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pty</a:t>
            </a:r>
            <a:r>
              <a:rPr sz="1700" dirty="0">
                <a:solidFill>
                  <a:srgbClr val="1E293B"/>
                </a:solidFill>
                <a:latin typeface="Calibri"/>
              </a:rPr>
              <a:t>).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2. Resilient </a:t>
            </a:r>
            <a:r>
              <a:rPr sz="1700" b="1" dirty="0" err="1">
                <a:solidFill>
                  <a:srgbClr val="0369A1"/>
                </a:solidFill>
                <a:latin typeface="Calibri"/>
              </a:rPr>
              <a:t>Pseudoterminal</a:t>
            </a:r>
            <a:r>
              <a:rPr sz="1700" b="1" dirty="0">
                <a:solidFill>
                  <a:srgbClr val="0369A1"/>
                </a:solidFill>
                <a:latin typeface="Calibri"/>
              </a:rPr>
              <a:t> Subsystem: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Build an interactive VT100 terminal supporting ANSI escapes,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gcc</a:t>
            </a:r>
            <a:r>
              <a:rPr sz="1700" dirty="0">
                <a:solidFill>
                  <a:srgbClr val="1E293B"/>
                </a:solidFill>
                <a:latin typeface="Calibri"/>
              </a:rPr>
              <a:t>/g++/python compilation, and seamless HTTP RPC fallback (/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api</a:t>
            </a:r>
            <a:r>
              <a:rPr sz="1700" dirty="0">
                <a:solidFill>
                  <a:srgbClr val="1E293B"/>
                </a:solidFill>
                <a:latin typeface="Calibri"/>
              </a:rPr>
              <a:t>/term/exec) during WebSocket disconnects.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3. Multi-Tab Embedded Web Browser: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Deliver an independent per-tab navigation stack with forward/back history caching and dynamic proxying (/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api</a:t>
            </a:r>
            <a:r>
              <a:rPr sz="1700" dirty="0">
                <a:solidFill>
                  <a:srgbClr val="1E293B"/>
                </a:solidFill>
                <a:latin typeface="Calibri"/>
              </a:rPr>
              <a:t>/proxy) for live web access.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4. Authentic UEFI Startup Experience: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Design an OS-grade diagnostic bootloader probing ACPI hardware, memory tables, and storage overlays in ~2.8s.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sz="1700" b="1" dirty="0">
                <a:solidFill>
                  <a:srgbClr val="0369A1"/>
                </a:solidFill>
                <a:latin typeface="Calibri"/>
              </a:rPr>
              <a:t>   5. Complete Productivity Ecosystem: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Deploy 14 production-ready apps including Task Manager, File Explorer (with trash recovery), Code Studio, Paint Studio, Media Player, and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Architectural Methodology &amp; System Flow</a:t>
            </a:r>
            <a:endParaRPr lang="en-IN" sz="3200" b="0" strike="noStrike" spc="-1" dirty="0">
              <a:latin typeface="Arial"/>
            </a:endParaRPr>
          </a:p>
        </p:txBody>
      </p:sp>
      <p:sp>
        <p:nvSpPr>
          <p:cNvPr id="137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spcAft>
                <a:spcPts val="1000"/>
              </a:spcAft>
            </a:pPr>
            <a:r>
              <a:rPr sz="2000" b="1" dirty="0">
                <a:solidFill>
                  <a:srgbClr val="0E7490"/>
                </a:solidFill>
                <a:latin typeface="Calibri"/>
              </a:rPr>
              <a:t>AURA-OS employs a 3-tier microkernel architecture separating presentation from execution: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77420" y="2556387"/>
            <a:ext cx="2331720" cy="2803177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0369A1"/>
                </a:solidFill>
                <a:latin typeface="Calibri"/>
              </a:rPr>
              <a:t>Tier 1: Client Shell
</a:t>
            </a:r>
          </a:p>
          <a:p>
            <a:pPr algn="just"/>
            <a:r>
              <a:rPr sz="1400" dirty="0">
                <a:solidFill>
                  <a:srgbClr val="0F172A"/>
                </a:solidFill>
                <a:latin typeface="Calibri"/>
              </a:rPr>
              <a:t>Chromium Desktop Compositor
Fluent 48px Acrylic Taskbar
Multi-Window Z-Index Manager
14 Modular Web Applications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337560" y="2556386"/>
            <a:ext cx="2331720" cy="2803177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0D9488"/>
                </a:solidFill>
                <a:latin typeface="Calibri"/>
              </a:rPr>
              <a:t>Tier 2: IPC &amp; Protocols
</a:t>
            </a:r>
          </a:p>
          <a:p>
            <a:pPr algn="just"/>
            <a:r>
              <a:rPr sz="1400" dirty="0">
                <a:solidFill>
                  <a:srgbClr val="0F172A"/>
                </a:solidFill>
                <a:latin typeface="Calibri"/>
              </a:rPr>
              <a:t>RFC 6455 Bi-directional WS
HTTP/1.1 REST Telemetry APIs
Dynamic Header Rewrite Proxy
HTTP RPC Terminal Fallback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989500" y="2556385"/>
            <a:ext cx="2331720" cy="2803177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D97706"/>
                </a:solidFill>
                <a:latin typeface="Calibri"/>
              </a:rPr>
              <a:t>Tier 3: Kernel Engine
</a:t>
            </a:r>
          </a:p>
          <a:p>
            <a:pPr algn="just"/>
            <a:r>
              <a:rPr sz="1400" dirty="0">
                <a:solidFill>
                  <a:srgbClr val="0F172A"/>
                </a:solidFill>
                <a:latin typeface="Calibri"/>
              </a:rPr>
              <a:t>Pure Python Standard Library
Multithreaded Socket Server
Process Lifecycle Supervisor
Storage Sandbox (~/AURA_STORE)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549640" y="2556385"/>
            <a:ext cx="2331720" cy="2803177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475569"/>
                </a:solidFill>
                <a:latin typeface="Calibri"/>
              </a:rPr>
              <a:t>Tier 4: Host Hardware
</a:t>
            </a:r>
          </a:p>
          <a:p>
            <a:pPr algn="just"/>
            <a:r>
              <a:rPr sz="1400" dirty="0">
                <a:solidFill>
                  <a:srgbClr val="0F172A"/>
                </a:solidFill>
                <a:latin typeface="Calibri"/>
              </a:rPr>
              <a:t>Host OS (Linux PTY / Windows)
Real Compiler Toolchains
Physical CPU / RAM / Disk
</a:t>
            </a:r>
            <a:r>
              <a:rPr sz="1400" dirty="0" err="1">
                <a:solidFill>
                  <a:srgbClr val="0F172A"/>
                </a:solidFill>
                <a:latin typeface="Calibri"/>
              </a:rPr>
              <a:t>NVMe</a:t>
            </a:r>
            <a:r>
              <a:rPr sz="1400" dirty="0">
                <a:solidFill>
                  <a:srgbClr val="0F172A"/>
                </a:solidFill>
                <a:latin typeface="Calibri"/>
              </a:rPr>
              <a:t> Storage Overlay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Tools &amp; Technologies Matrix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39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/>
            <a:endParaRPr/>
          </a:p>
        </p:txBody>
      </p:sp>
      <p:graphicFrame>
        <p:nvGraphicFramePr>
          <p:cNvPr id="140" name="Table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424094"/>
              </p:ext>
            </p:extLst>
          </p:nvPr>
        </p:nvGraphicFramePr>
        <p:xfrm>
          <a:off x="731520" y="1645920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Domain / Subsystem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Technology / Stack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Architectural Role &amp; Key Capabilities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Kernel Core Backend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0F172A"/>
                          </a:solidFill>
                          <a:latin typeface="Calibri"/>
                        </a:rPr>
                        <a:t>Python 3.10+ (Standard Library)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http.server, socket, threading, subprocess, select, pty. Zero pip dependencies.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B981"/>
                          </a:solidFill>
                          <a:latin typeface="Calibri"/>
                        </a:rPr>
                        <a:t>Verified (v1.0)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Client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0F172A"/>
                          </a:solidFill>
                          <a:latin typeface="Calibri"/>
                        </a:rPr>
                        <a:t>HTML5, Vanilla ES6+, CSS3 Grid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Fluent glass taskbar, 60+ FPS window compositor, canvas visualizer, CSS tokens.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B981"/>
                          </a:solidFill>
                          <a:latin typeface="Calibri"/>
                        </a:rPr>
                        <a:t>Verified (v1.0)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Terminal IPC Bridge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RFC 6455 WebSocket &amp; PTY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Interactive bash session, bitwise frame masking, buffer flush, REST fallback runner.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B981"/>
                          </a:solidFill>
                          <a:latin typeface="Calibri"/>
                        </a:rPr>
                        <a:t>Verified (v1.0)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Network Middleware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Reverse Proxy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Dynamic header sanitizer (stripping X-Frame-Options/CSP) for sandboxed web browsing.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10B981"/>
                          </a:solidFill>
                          <a:latin typeface="Calibri"/>
                        </a:rPr>
                        <a:t>Verified (v1.0)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0F172A"/>
                          </a:solidFill>
                          <a:latin typeface="Calibri"/>
                        </a:rPr>
                        <a:t>Compiler Toolchain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Host gcc, g++, python, javac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0F172A"/>
                          </a:solidFill>
                          <a:latin typeface="Calibri"/>
                        </a:rPr>
                        <a:t>Real compilation &amp; execution confined strictly within ~/AURA_STORE/ storage sandbox.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10B981"/>
                          </a:solidFill>
                          <a:latin typeface="Calibri"/>
                        </a:rPr>
                        <a:t>Operational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Working Prototype Demonstrations &amp; Evidence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41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754380" y="2226023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sz="1700" b="1" dirty="0">
                <a:solidFill>
                  <a:srgbClr val="0E7490"/>
                </a:solidFill>
                <a:latin typeface="Calibri"/>
              </a:rPr>
              <a:t>Native Host Launcher Mode (Recommended Demo)
</a:t>
            </a:r>
          </a:p>
          <a:p>
            <a:pPr algn="just"/>
            <a:r>
              <a:rPr sz="1700" dirty="0">
                <a:solidFill>
                  <a:srgbClr val="0F172A"/>
                </a:solidFill>
                <a:latin typeface="Calibri"/>
              </a:rPr>
              <a:t>•</a:t>
            </a:r>
            <a:r>
              <a:rPr sz="1700" dirty="0" err="1">
                <a:solidFill>
                  <a:srgbClr val="0F172A"/>
                </a:solidFill>
                <a:latin typeface="Calibri"/>
              </a:rPr>
              <a:t>Command:msedge</a:t>
            </a:r>
            <a:r>
              <a:rPr sz="1700" dirty="0">
                <a:solidFill>
                  <a:srgbClr val="0F172A"/>
                </a:solidFill>
                <a:latin typeface="Calibri"/>
              </a:rPr>
              <a:t>/chrome --</a:t>
            </a:r>
            <a:r>
              <a:rPr lang="en-IN" sz="1700" dirty="0">
                <a:solidFill>
                  <a:srgbClr val="0F172A"/>
                </a:solidFill>
                <a:latin typeface="Calibri"/>
              </a:rPr>
              <a:t>         </a:t>
            </a:r>
            <a:r>
              <a:rPr sz="1700" dirty="0">
                <a:solidFill>
                  <a:srgbClr val="0F172A"/>
                </a:solidFill>
                <a:latin typeface="Calibri"/>
              </a:rPr>
              <a:t>app=http://localhost:8888
• 100% Native 60+ FPS mouse</a:t>
            </a:r>
            <a:endParaRPr lang="en-IN" sz="1700" dirty="0">
              <a:solidFill>
                <a:srgbClr val="0F172A"/>
              </a:solidFill>
              <a:latin typeface="Calibri"/>
            </a:endParaRPr>
          </a:p>
          <a:p>
            <a:pPr algn="just"/>
            <a:r>
              <a:rPr sz="1700" dirty="0">
                <a:solidFill>
                  <a:srgbClr val="0F172A"/>
                </a:solidFill>
                <a:latin typeface="Calibri"/>
              </a:rPr>
              <a:t> </a:t>
            </a:r>
            <a:r>
              <a:rPr lang="en-IN" sz="1700" dirty="0">
                <a:solidFill>
                  <a:srgbClr val="0F172A"/>
                </a:solidFill>
                <a:latin typeface="Calibri"/>
              </a:rPr>
              <a:t>   </a:t>
            </a:r>
            <a:r>
              <a:rPr sz="1700" dirty="0">
                <a:solidFill>
                  <a:srgbClr val="0F172A"/>
                </a:solidFill>
                <a:latin typeface="Calibri"/>
              </a:rPr>
              <a:t>cursor &amp; instant clicks
• Interactive VT100 Terminal </a:t>
            </a:r>
            <a:endParaRPr lang="en-IN" sz="1700" dirty="0">
              <a:solidFill>
                <a:srgbClr val="0F172A"/>
              </a:solidFill>
              <a:latin typeface="Calibri"/>
            </a:endParaRPr>
          </a:p>
          <a:p>
            <a:pPr algn="just"/>
            <a:r>
              <a:rPr lang="en-IN" sz="1700" dirty="0">
                <a:solidFill>
                  <a:srgbClr val="0F172A"/>
                </a:solidFill>
                <a:latin typeface="Calibri"/>
              </a:rPr>
              <a:t>    </a:t>
            </a:r>
            <a:r>
              <a:rPr sz="1700" dirty="0">
                <a:solidFill>
                  <a:srgbClr val="0F172A"/>
                </a:solidFill>
                <a:latin typeface="Calibri"/>
              </a:rPr>
              <a:t>with verified PTY socket
• Multi-Tab Browser with bypass proxy engine
• Real-time Task Manager CPU/RAM telemetry
• Multi-Stage UEFI diagnostic startup sequence</a:t>
            </a:r>
          </a:p>
        </p:txBody>
      </p:sp>
      <p:pic>
        <p:nvPicPr>
          <p:cNvPr id="143" name="Picture 142" descr="AURA_O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49" y="3589200"/>
            <a:ext cx="1645920" cy="1498225"/>
          </a:xfrm>
          <a:prstGeom prst="rect">
            <a:avLst/>
          </a:prstGeom>
        </p:spPr>
      </p:pic>
      <p:sp>
        <p:nvSpPr>
          <p:cNvPr id="144" name="Rounded Rectangle 143"/>
          <p:cNvSpPr/>
          <p:nvPr/>
        </p:nvSpPr>
        <p:spPr>
          <a:xfrm>
            <a:off x="6172200" y="146268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1700" b="1" dirty="0">
                <a:solidFill>
                  <a:srgbClr val="475569"/>
                </a:solidFill>
                <a:latin typeface="Calibri"/>
              </a:rPr>
              <a:t>V</a:t>
            </a:r>
            <a:r>
              <a:rPr sz="1700" b="1" dirty="0" err="1">
                <a:solidFill>
                  <a:srgbClr val="475569"/>
                </a:solidFill>
                <a:latin typeface="Calibri"/>
              </a:rPr>
              <a:t>irtualBox</a:t>
            </a:r>
            <a:r>
              <a:rPr sz="1700" b="1" dirty="0">
                <a:solidFill>
                  <a:srgbClr val="475569"/>
                </a:solidFill>
                <a:latin typeface="Calibri"/>
              </a:rPr>
              <a:t> ISO Mode (Evaluation Baseline)
</a:t>
            </a:r>
          </a:p>
          <a:p>
            <a:pPr algn="just"/>
            <a:r>
              <a:rPr sz="1700" dirty="0">
                <a:solidFill>
                  <a:srgbClr val="0F172A"/>
                </a:solidFill>
                <a:latin typeface="Calibri"/>
              </a:rPr>
              <a:t>• Bootable </a:t>
            </a:r>
            <a:r>
              <a:rPr sz="1700" dirty="0" err="1">
                <a:solidFill>
                  <a:srgbClr val="0F172A"/>
                </a:solidFill>
                <a:latin typeface="Calibri"/>
              </a:rPr>
              <a:t>Buildroot</a:t>
            </a:r>
            <a:r>
              <a:rPr sz="1700" dirty="0">
                <a:solidFill>
                  <a:srgbClr val="0F172A"/>
                </a:solidFill>
                <a:latin typeface="Calibri"/>
              </a:rPr>
              <a:t> Linux 5.10 LTS ISO runtime
• </a:t>
            </a:r>
            <a:r>
              <a:rPr sz="1700" dirty="0" err="1">
                <a:solidFill>
                  <a:srgbClr val="0F172A"/>
                </a:solidFill>
                <a:latin typeface="Calibri"/>
              </a:rPr>
              <a:t>Rootfs</a:t>
            </a:r>
            <a:r>
              <a:rPr sz="1700" dirty="0">
                <a:solidFill>
                  <a:srgbClr val="0F172A"/>
                </a:solidFill>
                <a:latin typeface="Calibri"/>
              </a:rPr>
              <a:t> memory verification &amp; </a:t>
            </a:r>
            <a:r>
              <a:rPr sz="1700" dirty="0" err="1">
                <a:solidFill>
                  <a:srgbClr val="0F172A"/>
                </a:solidFill>
                <a:latin typeface="Calibri"/>
              </a:rPr>
              <a:t>BusyBox</a:t>
            </a:r>
            <a:r>
              <a:rPr sz="1700" dirty="0">
                <a:solidFill>
                  <a:srgbClr val="0F172A"/>
                </a:solidFill>
                <a:latin typeface="Calibri"/>
              </a:rPr>
              <a:t> tools
• Limitation Identified: VirtualBox USB/PS2 mouse
  driver captures host pointer, causing latency
• Architectural Justification: Proves superiority of
  AURA-OS Native Host Architecture for live defense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PERT Chart &amp; Project Milestones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43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spcAft>
                <a:spcPts val="800"/>
              </a:spcAft>
            </a:pPr>
            <a:r>
              <a:rPr sz="2000" b="1" dirty="0">
                <a:solidFill>
                  <a:srgbClr val="0E7490"/>
                </a:solidFill>
                <a:latin typeface="Calibri"/>
              </a:rPr>
              <a:t>Development Timeline &amp; Mid-Semester Milestones (August 2026 – December 2026):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31520" y="2377440"/>
            <a:ext cx="1828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10B981"/>
                </a:solidFill>
                <a:latin typeface="Calibri"/>
              </a:rPr>
              <a:t>[Completed]
</a:t>
            </a:r>
            <a:r>
              <a:rPr sz="1400" b="1" dirty="0">
                <a:solidFill>
                  <a:srgbClr val="0F172A"/>
                </a:solidFill>
                <a:latin typeface="Calibri"/>
              </a:rPr>
              <a:t>Task 1: Kernel Core
</a:t>
            </a:r>
          </a:p>
          <a:p>
            <a:pPr algn="just"/>
            <a:r>
              <a:rPr sz="1400" dirty="0">
                <a:solidFill>
                  <a:srgbClr val="475569"/>
                </a:solidFill>
                <a:latin typeface="Calibri"/>
              </a:rPr>
              <a:t>Aug 2026
• Base HTTP Engine
• Process Manager
• Storage Sandbox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26080" y="2377440"/>
            <a:ext cx="1828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10B981"/>
                </a:solidFill>
                <a:latin typeface="Calibri"/>
              </a:rPr>
              <a:t>[Completed]
</a:t>
            </a:r>
            <a:r>
              <a:rPr sz="1400" b="1" dirty="0">
                <a:solidFill>
                  <a:srgbClr val="0F172A"/>
                </a:solidFill>
                <a:latin typeface="Calibri"/>
              </a:rPr>
              <a:t>Task 2: Web Compositor
</a:t>
            </a:r>
          </a:p>
          <a:p>
            <a:pPr algn="just"/>
            <a:r>
              <a:rPr sz="1400" dirty="0">
                <a:solidFill>
                  <a:srgbClr val="475569"/>
                </a:solidFill>
                <a:latin typeface="Calibri"/>
              </a:rPr>
              <a:t>Sep 2026
• Window Manager
• Fluent Taskbar
• System Equalizer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120640" y="2377440"/>
            <a:ext cx="1828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10B981"/>
                </a:solidFill>
                <a:latin typeface="Calibri"/>
              </a:rPr>
              <a:t>[Completed</a:t>
            </a:r>
            <a:r>
              <a:rPr lang="en-IN" sz="1400" b="1" dirty="0">
                <a:solidFill>
                  <a:srgbClr val="10B981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10B981"/>
                </a:solidFill>
                <a:latin typeface="Calibri"/>
              </a:rPr>
              <a:t>[NOW]]
</a:t>
            </a:r>
            <a:r>
              <a:rPr sz="1400" b="1" dirty="0">
                <a:solidFill>
                  <a:srgbClr val="0F172A"/>
                </a:solidFill>
                <a:latin typeface="Calibri"/>
              </a:rPr>
              <a:t>Task 3: Terminal &amp; Proxy
</a:t>
            </a:r>
          </a:p>
          <a:p>
            <a:pPr algn="just"/>
            <a:r>
              <a:rPr sz="1400" dirty="0">
                <a:solidFill>
                  <a:srgbClr val="475569"/>
                </a:solidFill>
                <a:latin typeface="Calibri"/>
              </a:rPr>
              <a:t>Oct 2026
• RFC 6455 PTY WS
• HTTP RPC Fallback
• Bypass Web Proxy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315200" y="2377440"/>
            <a:ext cx="1828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3B82F6"/>
                </a:solidFill>
                <a:latin typeface="Calibri"/>
              </a:rPr>
              <a:t>[In Progress]
</a:t>
            </a:r>
            <a:r>
              <a:rPr sz="1400" b="1" dirty="0">
                <a:solidFill>
                  <a:srgbClr val="0F172A"/>
                </a:solidFill>
                <a:latin typeface="Calibri"/>
              </a:rPr>
              <a:t>Task 4: Agent Core
</a:t>
            </a:r>
          </a:p>
          <a:p>
            <a:pPr algn="just"/>
            <a:r>
              <a:rPr sz="1400" dirty="0">
                <a:solidFill>
                  <a:srgbClr val="475569"/>
                </a:solidFill>
                <a:latin typeface="Calibri"/>
              </a:rPr>
              <a:t>Nov 2026
• Planner Runtime
• LLM Tool Calling
• Policy Engine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509760" y="2377440"/>
            <a:ext cx="18288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just"/>
            <a:r>
              <a:rPr sz="1400" b="1" dirty="0">
                <a:solidFill>
                  <a:srgbClr val="64748B"/>
                </a:solidFill>
                <a:latin typeface="Calibri"/>
              </a:rPr>
              <a:t>[Scheduled]
</a:t>
            </a:r>
            <a:r>
              <a:rPr sz="1400" b="1" dirty="0">
                <a:solidFill>
                  <a:srgbClr val="0F172A"/>
                </a:solidFill>
                <a:latin typeface="Calibri"/>
              </a:rPr>
              <a:t>Task 5: Final Defense
</a:t>
            </a:r>
          </a:p>
          <a:p>
            <a:pPr algn="just"/>
            <a:r>
              <a:rPr sz="1400" dirty="0">
                <a:solidFill>
                  <a:srgbClr val="475569"/>
                </a:solidFill>
                <a:latin typeface="Calibri"/>
              </a:rPr>
              <a:t>Dec 2026
• Performance Tests
• Thesis Submission
• Final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3200" b="1" dirty="0">
                <a:solidFill>
                  <a:srgbClr val="0E7490"/>
                </a:solidFill>
                <a:latin typeface="Calibri"/>
              </a:rPr>
              <a:t>Academic &amp; Technical References</a:t>
            </a:r>
            <a:endParaRPr lang="en-IN" sz="4000" b="0" strike="noStrike" spc="-1" dirty="0">
              <a:latin typeface="Arial"/>
            </a:endParaRPr>
          </a:p>
        </p:txBody>
      </p:sp>
      <p:sp>
        <p:nvSpPr>
          <p:cNvPr id="145" name="TextShape 2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/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1.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Betzer, J. S.,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Boudjadar</a:t>
            </a:r>
            <a:r>
              <a:rPr sz="1700" dirty="0">
                <a:solidFill>
                  <a:srgbClr val="1E293B"/>
                </a:solidFill>
                <a:latin typeface="Calibri"/>
              </a:rPr>
              <a:t>, J., et al., 'Digital Twin Enabled Runtime Verification for Cyber-Physical Systems', ACM Transactions, 2023.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2.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Huang, L., Varshney, L. R., and Willcox, K. E., 'Formal Verification of Digital Twins with TLA+ and Model Checking', IEEE Access, 2023.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3.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Fette, I., and Melnikov, A., 'The WebSocket Protocol', RFC 6455, Internet Engineering Task Force (IETF), December 2011.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4.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Soltesz, S., et al., 'Container-based operating system virtualization: A scalable, high-performance alternative to hypervisors', ACM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EuroSys</a:t>
            </a:r>
            <a:r>
              <a:rPr sz="1700" dirty="0">
                <a:solidFill>
                  <a:srgbClr val="1E293B"/>
                </a:solidFill>
                <a:latin typeface="Calibri"/>
              </a:rPr>
              <a:t>, 2007.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5.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IEEE Std 830-1998, 'IEEE Recommended Practice for Software Requirements Specifications', IEEE Computer Society, 1998.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6. </a:t>
            </a:r>
            <a:r>
              <a:rPr sz="1700" dirty="0">
                <a:solidFill>
                  <a:srgbClr val="1E293B"/>
                </a:solidFill>
                <a:latin typeface="Calibri"/>
              </a:rPr>
              <a:t>Silberschatz, A., Galvin, P. B., and Gagne, G., 'Operating System Concepts', 10th ed., John Wiley &amp; Sons, 2018.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sz="1700" b="1" dirty="0">
                <a:solidFill>
                  <a:srgbClr val="0E7490"/>
                </a:solidFill>
                <a:latin typeface="Calibri"/>
              </a:rPr>
              <a:t>7. </a:t>
            </a:r>
            <a:r>
              <a:rPr sz="1700" dirty="0" err="1">
                <a:solidFill>
                  <a:srgbClr val="1E293B"/>
                </a:solidFill>
                <a:latin typeface="Calibri"/>
              </a:rPr>
              <a:t>NitanshuOS</a:t>
            </a:r>
            <a:r>
              <a:rPr sz="1700" dirty="0">
                <a:solidFill>
                  <a:srgbClr val="1E293B"/>
                </a:solidFill>
                <a:latin typeface="Calibri"/>
              </a:rPr>
              <a:t> &amp; AURA-OS Architecture Repositories: https://github.com/Nitanshu715/AURA-OS (2026).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77440" y="1645920"/>
            <a:ext cx="7406640" cy="347472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 dirty="0">
                <a:solidFill>
                  <a:srgbClr val="0E7490"/>
                </a:solidFill>
                <a:latin typeface="Calibri"/>
              </a:rPr>
              <a:t>THANK YOU
</a:t>
            </a:r>
            <a:endParaRPr sz="3200" b="1" dirty="0">
              <a:solidFill>
                <a:srgbClr val="0F172A"/>
              </a:solidFill>
              <a:latin typeface="Calibri"/>
            </a:endParaRPr>
          </a:p>
          <a:p>
            <a:pPr algn="ctr"/>
            <a:r>
              <a:rPr dirty="0">
                <a:solidFill>
                  <a:srgbClr val="475569"/>
                </a:solidFill>
                <a:latin typeface="Calibri"/>
              </a:rPr>
              <a:t>Nitanshu Tak | SAP ID: 500121943 | </a:t>
            </a:r>
            <a:r>
              <a:rPr dirty="0" err="1">
                <a:solidFill>
                  <a:srgbClr val="475569"/>
                </a:solidFill>
                <a:latin typeface="Calibri"/>
              </a:rPr>
              <a:t>B.Tech</a:t>
            </a:r>
            <a:r>
              <a:rPr dirty="0">
                <a:solidFill>
                  <a:srgbClr val="475569"/>
                </a:solidFill>
                <a:latin typeface="Calibri"/>
              </a:rPr>
              <a:t> CSE (CCVT)
Mentored by: Dr. Nadeem </a:t>
            </a:r>
            <a:r>
              <a:rPr dirty="0" err="1">
                <a:solidFill>
                  <a:srgbClr val="475569"/>
                </a:solidFill>
                <a:latin typeface="Calibri"/>
              </a:rPr>
              <a:t>Khandey</a:t>
            </a:r>
            <a:r>
              <a:rPr dirty="0">
                <a:solidFill>
                  <a:srgbClr val="475569"/>
                </a:solidFill>
                <a:latin typeface="Calibri"/>
              </a:rPr>
              <a:t> Sir
Department of Informatics, School of Computer Science, UPES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8575</TotalTime>
  <Words>1443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AURA-OS: Agentic Unified Replica Architecture Operating System A Goal-Oriented Web-Native OS with Sandboxed Multi-Agent Execution &amp; Real Telemetry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Strengthen the embankments</dc:title>
  <dc:subject/>
  <dc:creator>Apple 2</dc:creator>
  <dc:description/>
  <cp:lastModifiedBy>Nitanshu Tak</cp:lastModifiedBy>
  <cp:revision>665</cp:revision>
  <cp:lastPrinted>2017-08-16T11:40:20Z</cp:lastPrinted>
  <dcterms:created xsi:type="dcterms:W3CDTF">2017-08-14T08:34:40Z</dcterms:created>
  <dcterms:modified xsi:type="dcterms:W3CDTF">2026-10-04T20:17:00Z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